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6" r:id="rId4"/>
    <p:sldId id="278" r:id="rId5"/>
    <p:sldId id="260" r:id="rId6"/>
    <p:sldId id="279" r:id="rId7"/>
    <p:sldId id="280" r:id="rId8"/>
    <p:sldId id="277" r:id="rId9"/>
    <p:sldId id="28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2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60" y="-10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2B45A-91AE-4BFF-B50C-0439ADA6CD8C}" type="datetimeFigureOut">
              <a:rPr lang="en-AU" smtClean="0"/>
              <a:t>13/11/2025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EB11E-93E6-4D3F-AE59-CDEF210DB5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22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Welcome — </a:t>
            </a:r>
            <a:r>
              <a:rPr lang="en-AU" dirty="0"/>
              <a:t>KB Linux Foundation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Adopted Linux Course </a:t>
            </a:r>
          </a:p>
          <a:p>
            <a:r>
              <a:rPr lang="en-AU" dirty="0"/>
              <a:t>For Intention Space 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253557" y="6400800"/>
            <a:ext cx="18165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787878"/>
                </a:solidFill>
              </a:defRPr>
            </a:pPr>
            <a:r>
              <a:rPr lang="en-AU" dirty="0"/>
              <a:t> KB Linux Foundation </a:t>
            </a:r>
            <a:r>
              <a:rPr dirty="0"/>
              <a:t>• 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2" y="327026"/>
            <a:ext cx="10277183" cy="1662783"/>
          </a:xfrm>
        </p:spPr>
        <p:txBody>
          <a:bodyPr anchor="ctr">
            <a:normAutofit/>
          </a:bodyPr>
          <a:lstStyle/>
          <a:p>
            <a:r>
              <a:rPr lang="en-AU" sz="3600" dirty="0"/>
              <a:t>Where IS The PROCESS  &amp; Where Is The STATE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0490" y="6400800"/>
            <a:ext cx="23195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i="1">
                <a:solidFill>
                  <a:srgbClr val="787878"/>
                </a:solidFill>
              </a:defRPr>
            </a:pPr>
            <a:r>
              <a:rPr lang="en-AU" sz="1000"/>
              <a:t>KB Linux Foundation •    Slide 2</a:t>
            </a:r>
          </a:p>
        </p:txBody>
      </p:sp>
      <p:pic>
        <p:nvPicPr>
          <p:cNvPr id="9" name="Picture 8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592A744C-40B2-AD4A-3C32-D266302F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890" y="1989809"/>
            <a:ext cx="5782482" cy="47631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2B58-15EB-7AF9-7696-7027D6D7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Linux – every thing is a file..?</a:t>
            </a:r>
          </a:p>
        </p:txBody>
      </p:sp>
      <p:pic>
        <p:nvPicPr>
          <p:cNvPr id="10" name="Content Placeholder 9" descr="A black text on a white background">
            <a:extLst>
              <a:ext uri="{FF2B5EF4-FFF2-40B4-BE49-F238E27FC236}">
                <a16:creationId xmlns:a16="http://schemas.microsoft.com/office/drawing/2014/main" id="{3B0AA1BC-3D70-2580-955C-CE63AD2F1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371" y="1600200"/>
            <a:ext cx="6745257" cy="4525963"/>
          </a:xfrm>
        </p:spPr>
      </p:pic>
    </p:spTree>
    <p:extLst>
      <p:ext uri="{BB962C8B-B14F-4D97-AF65-F5344CB8AC3E}">
        <p14:creationId xmlns:p14="http://schemas.microsoft.com/office/powerpoint/2010/main" val="186386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E95-07F5-9178-0469-C1FCE651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Taste Of devices as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86C2E-C3DC-29F5-BEC8-511577EBD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# list input devices (</a:t>
            </a:r>
            <a:r>
              <a:rPr lang="en-AU" dirty="0" err="1"/>
              <a:t>evdev</a:t>
            </a:r>
            <a:r>
              <a:rPr lang="en-AU" dirty="0"/>
              <a:t>) short for "event device"</a:t>
            </a:r>
          </a:p>
          <a:p>
            <a:r>
              <a:rPr lang="en-AU" dirty="0"/>
              <a:t>ls -l /dev/input/*</a:t>
            </a:r>
          </a:p>
          <a:p>
            <a:endParaRPr lang="en-AU" dirty="0"/>
          </a:p>
          <a:p>
            <a:r>
              <a:rPr lang="en-AU" dirty="0"/>
              <a:t># which process has the console open? (may need </a:t>
            </a:r>
            <a:r>
              <a:rPr lang="en-AU" dirty="0" err="1"/>
              <a:t>sudo</a:t>
            </a:r>
            <a:r>
              <a:rPr lang="en-AU" dirty="0"/>
              <a:t>)</a:t>
            </a:r>
          </a:p>
          <a:p>
            <a:r>
              <a:rPr lang="en-AU" dirty="0" err="1"/>
              <a:t>sudo</a:t>
            </a:r>
            <a:r>
              <a:rPr lang="en-AU" dirty="0"/>
              <a:t> </a:t>
            </a:r>
            <a:r>
              <a:rPr lang="en-AU" dirty="0" err="1"/>
              <a:t>lsof</a:t>
            </a:r>
            <a:r>
              <a:rPr lang="en-AU" dirty="0"/>
              <a:t> /dev/console</a:t>
            </a:r>
          </a:p>
          <a:p>
            <a:endParaRPr lang="en-AU" dirty="0"/>
          </a:p>
          <a:p>
            <a:r>
              <a:rPr lang="en-AU" dirty="0"/>
              <a:t># check PID 1 process</a:t>
            </a:r>
          </a:p>
          <a:p>
            <a:r>
              <a:rPr lang="en-AU" dirty="0" err="1"/>
              <a:t>ps</a:t>
            </a:r>
            <a:r>
              <a:rPr lang="en-AU" dirty="0"/>
              <a:t> -p 1 -o </a:t>
            </a:r>
            <a:r>
              <a:rPr lang="en-AU" dirty="0" err="1"/>
              <a:t>pid,comm,cmd</a:t>
            </a:r>
            <a:endParaRPr lang="en-AU" dirty="0"/>
          </a:p>
          <a:p>
            <a:endParaRPr lang="en-AU" dirty="0"/>
          </a:p>
          <a:p>
            <a:r>
              <a:rPr lang="en-AU" dirty="0"/>
              <a:t># list </a:t>
            </a:r>
            <a:r>
              <a:rPr lang="en-AU" dirty="0" err="1"/>
              <a:t>fd</a:t>
            </a:r>
            <a:r>
              <a:rPr lang="en-AU" dirty="0"/>
              <a:t> of PID 1 (may show device files opened)</a:t>
            </a:r>
          </a:p>
          <a:p>
            <a:r>
              <a:rPr lang="en-AU" dirty="0" err="1"/>
              <a:t>sudo</a:t>
            </a:r>
            <a:r>
              <a:rPr lang="en-AU" dirty="0"/>
              <a:t> ls -l /proc/1/</a:t>
            </a:r>
            <a:r>
              <a:rPr lang="en-AU" dirty="0" err="1"/>
              <a:t>fd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694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  <a:latin typeface="Calibri"/>
              </a:rPr>
              <a:t>What is a Process in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>
                <a:solidFill>
                  <a:srgbClr val="000000"/>
                </a:solidFill>
                <a:latin typeface="Calibri"/>
              </a:rPr>
              <a:t>A process is a running instance of a program managed by the kernel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• Kernel view: represented by </a:t>
            </a:r>
            <a:r>
              <a:rPr dirty="0" err="1">
                <a:solidFill>
                  <a:srgbClr val="000000"/>
                </a:solidFill>
                <a:latin typeface="Calibri"/>
              </a:rPr>
              <a:t>task_struct</a:t>
            </a:r>
            <a:r>
              <a:rPr dirty="0">
                <a:solidFill>
                  <a:srgbClr val="000000"/>
                </a:solidFill>
                <a:latin typeface="Calibri"/>
              </a:rPr>
              <a:t> (PID, state, scheduling info)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• Key attributes: PID, PPID, UID/GID, memory map, file descriptors, signals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• Memory layout: text/code, data, heap (dynamic), stack (per-thread)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• Lifecycle: fork() → (child) </a:t>
            </a:r>
            <a:r>
              <a:rPr dirty="0" err="1">
                <a:solidFill>
                  <a:srgbClr val="000000"/>
                </a:solidFill>
                <a:latin typeface="Calibri"/>
              </a:rPr>
              <a:t>execve</a:t>
            </a:r>
            <a:r>
              <a:rPr dirty="0">
                <a:solidFill>
                  <a:srgbClr val="000000"/>
                </a:solidFill>
                <a:latin typeface="Calibri"/>
              </a:rPr>
              <a:t>() → run → exit(); parent uses wait()/</a:t>
            </a:r>
            <a:r>
              <a:rPr dirty="0" err="1">
                <a:solidFill>
                  <a:srgbClr val="000000"/>
                </a:solidFill>
                <a:latin typeface="Calibri"/>
              </a:rPr>
              <a:t>waitpid</a:t>
            </a:r>
            <a:r>
              <a:rPr dirty="0">
                <a:solidFill>
                  <a:srgbClr val="000000"/>
                </a:solidFill>
                <a:latin typeface="Calibri"/>
              </a:rPr>
              <a:t>()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• States: running, sleeping (interruptible/uninterruptible), stopped, zombie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• Processes vs threads: threads are lightweight processes sharing the same memory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• Inspect &amp; debug: </a:t>
            </a:r>
            <a:r>
              <a:rPr dirty="0" err="1">
                <a:solidFill>
                  <a:srgbClr val="000000"/>
                </a:solidFill>
                <a:latin typeface="Calibri"/>
              </a:rPr>
              <a:t>ps</a:t>
            </a:r>
            <a:r>
              <a:rPr dirty="0">
                <a:solidFill>
                  <a:srgbClr val="000000"/>
                </a:solidFill>
                <a:latin typeface="Calibri"/>
              </a:rPr>
              <a:t>, top, </a:t>
            </a:r>
            <a:r>
              <a:rPr dirty="0" err="1">
                <a:solidFill>
                  <a:srgbClr val="000000"/>
                </a:solidFill>
                <a:latin typeface="Calibri"/>
              </a:rPr>
              <a:t>pstree</a:t>
            </a:r>
            <a:r>
              <a:rPr dirty="0">
                <a:solidFill>
                  <a:srgbClr val="000000"/>
                </a:solidFill>
                <a:latin typeface="Calibri"/>
              </a:rPr>
              <a:t>, /proc/&lt;</a:t>
            </a:r>
            <a:r>
              <a:rPr dirty="0" err="1">
                <a:solidFill>
                  <a:srgbClr val="000000"/>
                </a:solidFill>
                <a:latin typeface="Calibri"/>
              </a:rPr>
              <a:t>pid</a:t>
            </a:r>
            <a:r>
              <a:rPr dirty="0">
                <a:solidFill>
                  <a:srgbClr val="000000"/>
                </a:solidFill>
                <a:latin typeface="Calibri"/>
              </a:rPr>
              <a:t>&gt;, </a:t>
            </a:r>
            <a:r>
              <a:rPr dirty="0" err="1">
                <a:solidFill>
                  <a:srgbClr val="000000"/>
                </a:solidFill>
                <a:latin typeface="Calibri"/>
              </a:rPr>
              <a:t>strace</a:t>
            </a:r>
            <a:r>
              <a:rPr dirty="0">
                <a:solidFill>
                  <a:srgbClr val="000000"/>
                </a:solidFill>
                <a:latin typeface="Calibri"/>
              </a:rPr>
              <a:t>, </a:t>
            </a:r>
            <a:r>
              <a:rPr dirty="0" err="1">
                <a:solidFill>
                  <a:srgbClr val="000000"/>
                </a:solidFill>
                <a:latin typeface="Calibri"/>
              </a:rPr>
              <a:t>lsof</a:t>
            </a:r>
            <a:endParaRPr dirty="0">
              <a:solidFill>
                <a:srgbClr val="000000"/>
              </a:solidFill>
              <a:latin typeface="Calibri"/>
            </a:endParaRPr>
          </a:p>
          <a:p>
            <a:pPr>
              <a:defRPr sz="1400"/>
            </a:pPr>
            <a:r>
              <a:rPr dirty="0">
                <a:solidFill>
                  <a:srgbClr val="000000"/>
                </a:solidFill>
                <a:latin typeface="Calibri"/>
              </a:rPr>
              <a:t>Takeaway: a process is the kernel-managed execution context that isolates a program's resources and memory from other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rgbClr val="000000"/>
                </a:solidFill>
                <a:latin typeface="Calibri"/>
              </a:rPr>
              <a:t>Layered Cycle Speeds — Kernel, IoT Monitor,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800"/>
            </a:pPr>
            <a:r>
              <a:rPr dirty="0">
                <a:solidFill>
                  <a:srgbClr val="000000"/>
                </a:solidFill>
                <a:latin typeface="Calibri"/>
              </a:rPr>
              <a:t>Why speeds matter across layers</a:t>
            </a:r>
          </a:p>
          <a:p>
            <a:pPr>
              <a:defRPr sz="1400"/>
            </a:pPr>
            <a:r>
              <a:rPr dirty="0">
                <a:solidFill>
                  <a:srgbClr val="000000"/>
                </a:solidFill>
                <a:latin typeface="Calibri"/>
              </a:rPr>
              <a:t>• Different layers operate on different time scales; design must reconcile these for correctness and UX.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Typical layers &amp; characteristic cycle times</a:t>
            </a:r>
          </a:p>
          <a:p>
            <a:pPr>
              <a:defRPr sz="1300"/>
            </a:pPr>
            <a:r>
              <a:rPr dirty="0">
                <a:solidFill>
                  <a:srgbClr val="000000"/>
                </a:solidFill>
                <a:latin typeface="Calibri"/>
              </a:rPr>
              <a:t>• Kernel / Interrupts: microseconds — fast IRQ handling, </a:t>
            </a:r>
            <a:r>
              <a:rPr dirty="0" err="1">
                <a:solidFill>
                  <a:srgbClr val="000000"/>
                </a:solidFill>
                <a:latin typeface="Calibri"/>
              </a:rPr>
              <a:t>softirqs</a:t>
            </a:r>
            <a:r>
              <a:rPr dirty="0">
                <a:solidFill>
                  <a:srgbClr val="000000"/>
                </a:solidFill>
                <a:latin typeface="Calibri"/>
              </a:rPr>
              <a:t>, scheduling (e.g., HZ=1000, </a:t>
            </a:r>
            <a:r>
              <a:rPr dirty="0" err="1">
                <a:solidFill>
                  <a:srgbClr val="000000"/>
                </a:solidFill>
                <a:latin typeface="Calibri"/>
              </a:rPr>
              <a:t>tickless</a:t>
            </a:r>
            <a:r>
              <a:rPr dirty="0">
                <a:solidFill>
                  <a:srgbClr val="000000"/>
                </a:solidFill>
                <a:latin typeface="Calibri"/>
              </a:rPr>
              <a:t>/</a:t>
            </a:r>
            <a:r>
              <a:rPr dirty="0" err="1">
                <a:solidFill>
                  <a:srgbClr val="000000"/>
                </a:solidFill>
                <a:latin typeface="Calibri"/>
              </a:rPr>
              <a:t>nohz</a:t>
            </a:r>
            <a:r>
              <a:rPr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defRPr sz="1300"/>
            </a:pPr>
            <a:r>
              <a:rPr dirty="0">
                <a:solidFill>
                  <a:srgbClr val="000000"/>
                </a:solidFill>
                <a:latin typeface="Calibri"/>
              </a:rPr>
              <a:t>• Device DMA / HW controllers: micro → milli — DMA transfers, GPU framebuffers, hardware timers</a:t>
            </a:r>
          </a:p>
          <a:p>
            <a:pPr>
              <a:defRPr sz="1300"/>
            </a:pPr>
            <a:r>
              <a:rPr dirty="0">
                <a:solidFill>
                  <a:srgbClr val="000000"/>
                </a:solidFill>
                <a:latin typeface="Calibri"/>
              </a:rPr>
              <a:t>• IoT Monitor / Sensor sampling: milliseconds — sensor poll rate or interrupt-based sampling (10ms–1000ms)</a:t>
            </a:r>
          </a:p>
          <a:p>
            <a:pPr>
              <a:defRPr sz="1300"/>
            </a:pPr>
            <a:r>
              <a:rPr dirty="0">
                <a:solidFill>
                  <a:srgbClr val="000000"/>
                </a:solidFill>
                <a:latin typeface="Calibri"/>
              </a:rPr>
              <a:t>• Network / Bus: milliseconds → 10s </a:t>
            </a:r>
            <a:r>
              <a:rPr dirty="0" err="1">
                <a:solidFill>
                  <a:srgbClr val="000000"/>
                </a:solidFill>
                <a:latin typeface="Calibri"/>
              </a:rPr>
              <a:t>ms</a:t>
            </a:r>
            <a:r>
              <a:rPr dirty="0">
                <a:solidFill>
                  <a:srgbClr val="000000"/>
                </a:solidFill>
                <a:latin typeface="Calibri"/>
              </a:rPr>
              <a:t> — network latency, wireless jitter</a:t>
            </a:r>
          </a:p>
          <a:p>
            <a:pPr>
              <a:defRPr sz="1300"/>
            </a:pPr>
            <a:r>
              <a:rPr dirty="0">
                <a:solidFill>
                  <a:srgbClr val="000000"/>
                </a:solidFill>
                <a:latin typeface="Calibri"/>
              </a:rPr>
              <a:t>• Display device (frame rate): frames at 60 Hz (≈16.7 </a:t>
            </a:r>
            <a:r>
              <a:rPr dirty="0" err="1">
                <a:solidFill>
                  <a:srgbClr val="000000"/>
                </a:solidFill>
                <a:latin typeface="Calibri"/>
              </a:rPr>
              <a:t>ms</a:t>
            </a:r>
            <a:r>
              <a:rPr dirty="0">
                <a:solidFill>
                  <a:srgbClr val="000000"/>
                </a:solidFill>
                <a:latin typeface="Calibri"/>
              </a:rPr>
              <a:t>) or 120 Hz (≈8.3 </a:t>
            </a:r>
            <a:r>
              <a:rPr dirty="0" err="1">
                <a:solidFill>
                  <a:srgbClr val="000000"/>
                </a:solidFill>
                <a:latin typeface="Calibri"/>
              </a:rPr>
              <a:t>ms</a:t>
            </a:r>
            <a:r>
              <a:rPr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defRPr sz="1300"/>
            </a:pPr>
            <a:r>
              <a:rPr dirty="0">
                <a:solidFill>
                  <a:srgbClr val="000000"/>
                </a:solidFill>
                <a:latin typeface="Calibri"/>
              </a:rPr>
              <a:t>• Human operator / UX: ≈100 </a:t>
            </a:r>
            <a:r>
              <a:rPr dirty="0" err="1">
                <a:solidFill>
                  <a:srgbClr val="000000"/>
                </a:solidFill>
                <a:latin typeface="Calibri"/>
              </a:rPr>
              <a:t>ms</a:t>
            </a:r>
            <a:r>
              <a:rPr dirty="0">
                <a:solidFill>
                  <a:srgbClr val="000000"/>
                </a:solidFill>
                <a:latin typeface="Calibri"/>
              </a:rPr>
              <a:t>+ perceptual latency (responsiveness target)</a:t>
            </a:r>
          </a:p>
          <a:p>
            <a:pPr>
              <a:defRPr sz="1600"/>
            </a:pPr>
            <a:r>
              <a:rPr dirty="0">
                <a:solidFill>
                  <a:srgbClr val="000000"/>
                </a:solidFill>
                <a:latin typeface="Calibri"/>
              </a:rPr>
              <a:t>How these layers work together (practical patterns)</a:t>
            </a:r>
          </a:p>
          <a:p>
            <a:pPr lvl="1">
              <a:defRPr sz="1200"/>
            </a:pPr>
            <a:endParaRPr dirty="0">
              <a:solidFill>
                <a:srgbClr val="000000"/>
              </a:solidFill>
              <a:latin typeface="Calibri"/>
            </a:endParaRPr>
          </a:p>
          <a:p>
            <a:pPr lvl="1">
              <a:defRPr sz="1200"/>
            </a:pPr>
            <a:r>
              <a:rPr dirty="0">
                <a:solidFill>
                  <a:srgbClr val="000000"/>
                </a:solidFill>
                <a:latin typeface="Calibri"/>
              </a:rPr>
              <a:t>Boot-time knobs (examples)</a:t>
            </a:r>
            <a:r>
              <a:rPr lang="en-AU" dirty="0">
                <a:solidFill>
                  <a:srgbClr val="000000"/>
                </a:solidFill>
              </a:rPr>
              <a:t> • Interrupts → kernel quickly captures events; hand off to userland via device nodes or </a:t>
            </a:r>
            <a:r>
              <a:rPr lang="en-AU" dirty="0" err="1">
                <a:solidFill>
                  <a:srgbClr val="000000"/>
                </a:solidFill>
              </a:rPr>
              <a:t>netlink</a:t>
            </a:r>
            <a:r>
              <a:rPr lang="en-AU" dirty="0">
                <a:solidFill>
                  <a:srgbClr val="000000"/>
                </a:solidFill>
              </a:rPr>
              <a:t> (low jitter).</a:t>
            </a:r>
          </a:p>
          <a:p>
            <a:pPr lvl="1">
              <a:defRPr sz="1200"/>
            </a:pPr>
            <a:r>
              <a:rPr lang="en-AU" dirty="0">
                <a:solidFill>
                  <a:srgbClr val="000000"/>
                </a:solidFill>
              </a:rPr>
              <a:t>• Buffering &amp; timestamps: kernel or driver timestamps events; buffers decouple fast producers from slower consumers.</a:t>
            </a:r>
          </a:p>
          <a:p>
            <a:pPr lvl="1">
              <a:defRPr sz="1200"/>
            </a:pPr>
            <a:r>
              <a:rPr lang="en-AU" dirty="0">
                <a:solidFill>
                  <a:srgbClr val="000000"/>
                </a:solidFill>
              </a:rPr>
              <a:t>• Aggregation / </a:t>
            </a:r>
            <a:r>
              <a:rPr lang="en-AU" dirty="0" err="1">
                <a:solidFill>
                  <a:srgbClr val="000000"/>
                </a:solidFill>
              </a:rPr>
              <a:t>downsampling</a:t>
            </a:r>
            <a:r>
              <a:rPr lang="en-AU" dirty="0">
                <a:solidFill>
                  <a:srgbClr val="000000"/>
                </a:solidFill>
              </a:rPr>
              <a:t>: high-rate sensors aggregate before sending to reduce load.</a:t>
            </a:r>
          </a:p>
          <a:p>
            <a:pPr lvl="1">
              <a:defRPr sz="1200"/>
            </a:pPr>
            <a:r>
              <a:rPr lang="en-AU" dirty="0">
                <a:solidFill>
                  <a:srgbClr val="000000"/>
                </a:solidFill>
              </a:rPr>
              <a:t>• Scheduling &amp; priorities: use real-time policies (SCHED_FIFO) for hard deadlines; isolate CPUs for low-latency tasks.</a:t>
            </a:r>
          </a:p>
          <a:p>
            <a:pPr lvl="1">
              <a:defRPr sz="1200"/>
            </a:pPr>
            <a:r>
              <a:rPr lang="en-AU" dirty="0">
                <a:solidFill>
                  <a:srgbClr val="000000"/>
                </a:solidFill>
              </a:rPr>
              <a:t>• Frame sync: compositor matches sensor + app updates to display refresh (</a:t>
            </a:r>
            <a:r>
              <a:rPr lang="en-AU" dirty="0" err="1">
                <a:solidFill>
                  <a:srgbClr val="000000"/>
                </a:solidFill>
              </a:rPr>
              <a:t>vsync</a:t>
            </a:r>
            <a:r>
              <a:rPr lang="en-AU" dirty="0">
                <a:solidFill>
                  <a:srgbClr val="000000"/>
                </a:solidFill>
              </a:rPr>
              <a:t>) to avoid tearing.</a:t>
            </a:r>
          </a:p>
          <a:p>
            <a:pPr lvl="1">
              <a:defRPr sz="1200"/>
            </a:pPr>
            <a:r>
              <a:rPr lang="en-AU" dirty="0">
                <a:solidFill>
                  <a:srgbClr val="000000"/>
                </a:solidFill>
              </a:rPr>
              <a:t>• Watchdogs / timeout: detect and recover missed deadlines (driver or </a:t>
            </a:r>
            <a:r>
              <a:rPr lang="en-AU" dirty="0" err="1">
                <a:solidFill>
                  <a:srgbClr val="000000"/>
                </a:solidFill>
              </a:rPr>
              <a:t>userspace</a:t>
            </a:r>
            <a:r>
              <a:rPr lang="en-AU" dirty="0">
                <a:solidFill>
                  <a:srgbClr val="000000"/>
                </a:solidFill>
              </a:rPr>
              <a:t> monitors).</a:t>
            </a:r>
            <a:endParaRPr dirty="0">
              <a:solidFill>
                <a:srgbClr val="000000"/>
              </a:solidFill>
              <a:latin typeface="Calibri"/>
            </a:endParaRPr>
          </a:p>
          <a:p>
            <a:pPr lvl="1">
              <a:defRPr sz="1200"/>
            </a:pPr>
            <a:r>
              <a:rPr dirty="0">
                <a:solidFill>
                  <a:srgbClr val="000000"/>
                </a:solidFill>
                <a:latin typeface="Calibri"/>
              </a:rPr>
              <a:t>• Kernel </a:t>
            </a:r>
            <a:r>
              <a:rPr dirty="0" err="1">
                <a:solidFill>
                  <a:srgbClr val="000000"/>
                </a:solidFill>
                <a:latin typeface="Calibri"/>
              </a:rPr>
              <a:t>cmdline</a:t>
            </a:r>
            <a:r>
              <a:rPr dirty="0">
                <a:solidFill>
                  <a:srgbClr val="000000"/>
                </a:solidFill>
                <a:latin typeface="Calibri"/>
              </a:rPr>
              <a:t>: </a:t>
            </a:r>
            <a:r>
              <a:rPr dirty="0" err="1">
                <a:solidFill>
                  <a:srgbClr val="000000"/>
                </a:solidFill>
                <a:latin typeface="Calibri"/>
              </a:rPr>
              <a:t>hz</a:t>
            </a:r>
            <a:r>
              <a:rPr dirty="0">
                <a:solidFill>
                  <a:srgbClr val="000000"/>
                </a:solidFill>
                <a:latin typeface="Calibri"/>
              </a:rPr>
              <a:t>=1000 </a:t>
            </a:r>
            <a:r>
              <a:rPr dirty="0" err="1">
                <a:solidFill>
                  <a:srgbClr val="000000"/>
                </a:solidFill>
                <a:latin typeface="Calibri"/>
              </a:rPr>
              <a:t>nohz_full</a:t>
            </a:r>
            <a:r>
              <a:rPr dirty="0">
                <a:solidFill>
                  <a:srgbClr val="000000"/>
                </a:solidFill>
                <a:latin typeface="Calibri"/>
              </a:rPr>
              <a:t>=1 </a:t>
            </a:r>
            <a:r>
              <a:rPr dirty="0" err="1">
                <a:solidFill>
                  <a:srgbClr val="000000"/>
                </a:solidFill>
                <a:latin typeface="Calibri"/>
              </a:rPr>
              <a:t>isolcpus</a:t>
            </a:r>
            <a:r>
              <a:rPr dirty="0">
                <a:solidFill>
                  <a:srgbClr val="000000"/>
                </a:solidFill>
                <a:latin typeface="Calibri"/>
              </a:rPr>
              <a:t>=2-3 (tune tick rate, isolate CPUs).</a:t>
            </a:r>
          </a:p>
          <a:p>
            <a:pPr lvl="1">
              <a:defRPr sz="1200"/>
            </a:pPr>
            <a:r>
              <a:rPr dirty="0">
                <a:solidFill>
                  <a:srgbClr val="000000"/>
                </a:solidFill>
                <a:latin typeface="Calibri"/>
              </a:rPr>
              <a:t>• CPU frequency governor: set to 'performance' to avoid throttling for latency-sensitive tasks.</a:t>
            </a:r>
          </a:p>
          <a:p>
            <a:pPr lvl="1">
              <a:defRPr sz="1200"/>
            </a:pPr>
            <a:r>
              <a:rPr dirty="0">
                <a:solidFill>
                  <a:srgbClr val="000000"/>
                </a:solidFill>
                <a:latin typeface="Calibri"/>
              </a:rPr>
              <a:t>• Device-tree / driver params or </a:t>
            </a:r>
            <a:r>
              <a:rPr dirty="0" err="1">
                <a:solidFill>
                  <a:srgbClr val="000000"/>
                </a:solidFill>
                <a:latin typeface="Calibri"/>
              </a:rPr>
              <a:t>udev</a:t>
            </a:r>
            <a:r>
              <a:rPr dirty="0">
                <a:solidFill>
                  <a:srgbClr val="000000"/>
                </a:solidFill>
                <a:latin typeface="Calibri"/>
              </a:rPr>
              <a:t>: set default sampling rates, enable IRQ affinities, set permissions.</a:t>
            </a:r>
          </a:p>
          <a:p>
            <a:pPr lvl="1">
              <a:defRPr sz="1200"/>
            </a:pPr>
            <a:r>
              <a:rPr dirty="0">
                <a:solidFill>
                  <a:srgbClr val="000000"/>
                </a:solidFill>
                <a:latin typeface="Calibri"/>
              </a:rPr>
              <a:t>• </a:t>
            </a:r>
            <a:r>
              <a:rPr dirty="0" err="1">
                <a:solidFill>
                  <a:srgbClr val="000000"/>
                </a:solidFill>
                <a:latin typeface="Calibri"/>
              </a:rPr>
              <a:t>systemd</a:t>
            </a:r>
            <a:r>
              <a:rPr dirty="0">
                <a:solidFill>
                  <a:srgbClr val="000000"/>
                </a:solidFill>
                <a:latin typeface="Calibri"/>
              </a:rPr>
              <a:t>/</a:t>
            </a:r>
            <a:r>
              <a:rPr dirty="0" err="1">
                <a:solidFill>
                  <a:srgbClr val="000000"/>
                </a:solidFill>
                <a:latin typeface="Calibri"/>
              </a:rPr>
              <a:t>udev</a:t>
            </a:r>
            <a:r>
              <a:rPr dirty="0">
                <a:solidFill>
                  <a:srgbClr val="000000"/>
                </a:solidFill>
                <a:latin typeface="Calibri"/>
              </a:rPr>
              <a:t> services: start driver-proxy daemons early to reduce warm-up latency.</a:t>
            </a:r>
          </a:p>
          <a:p>
            <a:pPr>
              <a:defRPr sz="1300"/>
            </a:pPr>
            <a:r>
              <a:rPr dirty="0">
                <a:solidFill>
                  <a:srgbClr val="000000"/>
                </a:solidFill>
                <a:latin typeface="Calibri"/>
              </a:rPr>
              <a:t>Takeaway: align producer speed, buffering, and consumer deadlines; pick where you trade latency vs throughput.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8F01-CAF5-1D9F-A098-F080CABB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FD –file descriptors and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D6D44-29FA-6C4D-D15E-F35C8AE68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The integer is the </a:t>
            </a:r>
            <a:r>
              <a:rPr lang="en-US" b="1" dirty="0"/>
              <a:t>file descriptor number</a:t>
            </a:r>
            <a:r>
              <a:rPr lang="en-US" dirty="0"/>
              <a:t> (non-negative integer). FD 0 = stdin, 1 = </a:t>
            </a:r>
            <a:r>
              <a:rPr lang="en-US" dirty="0" err="1"/>
              <a:t>stdout</a:t>
            </a:r>
            <a:r>
              <a:rPr lang="en-US" dirty="0"/>
              <a:t>, 2 = stderr by convention. </a:t>
            </a:r>
            <a:endParaRPr lang="en-AU" dirty="0"/>
          </a:p>
          <a:p>
            <a:r>
              <a:rPr lang="en-AU" dirty="0"/>
              <a:t># open FD 3 in parent (current shell)</a:t>
            </a:r>
          </a:p>
          <a:p>
            <a:r>
              <a:rPr lang="en-AU" dirty="0"/>
              <a:t>exec 3&gt; /</a:t>
            </a:r>
            <a:r>
              <a:rPr lang="en-AU" dirty="0" err="1"/>
              <a:t>tmp</a:t>
            </a:r>
            <a:r>
              <a:rPr lang="en-AU" dirty="0"/>
              <a:t>/fdtest.txt</a:t>
            </a:r>
          </a:p>
          <a:p>
            <a:endParaRPr lang="en-AU" dirty="0"/>
          </a:p>
          <a:p>
            <a:r>
              <a:rPr lang="en-AU" dirty="0"/>
              <a:t># write parent's </a:t>
            </a:r>
            <a:r>
              <a:rPr lang="en-AU" dirty="0" err="1"/>
              <a:t>pid</a:t>
            </a:r>
            <a:r>
              <a:rPr lang="en-AU" dirty="0"/>
              <a:t> via FD3</a:t>
            </a:r>
          </a:p>
          <a:p>
            <a:r>
              <a:rPr lang="en-AU" dirty="0"/>
              <a:t>echo "parent PID $$ (writing via FD3)" &gt;&amp;3</a:t>
            </a:r>
          </a:p>
          <a:p>
            <a:endParaRPr lang="en-AU" dirty="0"/>
          </a:p>
          <a:p>
            <a:r>
              <a:rPr lang="en-AU" dirty="0"/>
              <a:t># subshell: different PID, but can write via FD3 (inherited FD)</a:t>
            </a:r>
          </a:p>
          <a:p>
            <a:r>
              <a:rPr lang="en-AU" dirty="0"/>
              <a:t>( echo "subshell PID $$ (writing via inherited FD3)" &gt;&amp;3 )</a:t>
            </a:r>
          </a:p>
          <a:p>
            <a:endParaRPr lang="en-AU" dirty="0"/>
          </a:p>
          <a:p>
            <a:r>
              <a:rPr lang="en-AU" dirty="0"/>
              <a:t># group in current shell: same PID as parent</a:t>
            </a:r>
          </a:p>
          <a:p>
            <a:r>
              <a:rPr lang="en-AU" dirty="0"/>
              <a:t>{ echo "group PID $$ (running in current shell)"&gt;&amp;3; }</a:t>
            </a:r>
          </a:p>
          <a:p>
            <a:endParaRPr lang="en-AU" dirty="0"/>
          </a:p>
          <a:p>
            <a:r>
              <a:rPr lang="en-AU" dirty="0"/>
              <a:t># close FD 3 and inspect file</a:t>
            </a:r>
          </a:p>
          <a:p>
            <a:r>
              <a:rPr lang="en-AU" dirty="0"/>
              <a:t>exec 3&gt;&amp;-</a:t>
            </a:r>
          </a:p>
          <a:p>
            <a:r>
              <a:rPr lang="en-AU" dirty="0"/>
              <a:t>cat /</a:t>
            </a:r>
            <a:r>
              <a:rPr lang="en-AU" dirty="0" err="1"/>
              <a:t>tmp</a:t>
            </a:r>
            <a:r>
              <a:rPr lang="en-AU" dirty="0"/>
              <a:t>/fdtest.txt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378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B6CF-BF0D-DF48-0B2E-A7D73585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</a:t>
            </a:r>
            <a:r>
              <a:rPr lang="en-AU" dirty="0" err="1"/>
              <a:t>getmethere</a:t>
            </a:r>
            <a:r>
              <a:rPr lang="en-AU" dirty="0"/>
              <a:t>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DCC9F-F5D2-D357-AFDB-2DB7440C4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Short kernel-level reason (one sentence)</a:t>
            </a:r>
          </a:p>
          <a:p>
            <a:r>
              <a:rPr lang="en-US" dirty="0"/>
              <a:t>The kernel attaches a current working directory pointer inside each process’s kernel task structure (</a:t>
            </a:r>
            <a:r>
              <a:rPr lang="en-US" dirty="0" err="1"/>
              <a:t>task_struct</a:t>
            </a:r>
            <a:r>
              <a:rPr lang="en-US" dirty="0"/>
              <a:t>). When the shell forks and execs a script, the child process has its own </a:t>
            </a:r>
            <a:r>
              <a:rPr lang="en-US" dirty="0" err="1"/>
              <a:t>task_struct</a:t>
            </a:r>
            <a:r>
              <a:rPr lang="en-US" dirty="0"/>
              <a:t>; changing </a:t>
            </a:r>
            <a:r>
              <a:rPr lang="en-US" dirty="0" err="1"/>
              <a:t>cwd</a:t>
            </a:r>
            <a:r>
              <a:rPr lang="en-US" dirty="0"/>
              <a:t> in the child updates </a:t>
            </a:r>
            <a:r>
              <a:rPr lang="en-US" i="1" dirty="0"/>
              <a:t>that</a:t>
            </a:r>
            <a:r>
              <a:rPr lang="en-US" dirty="0"/>
              <a:t> process’s kernel state only — the parent’s </a:t>
            </a:r>
            <a:r>
              <a:rPr lang="en-US" dirty="0" err="1"/>
              <a:t>task_struct</a:t>
            </a:r>
            <a:r>
              <a:rPr lang="en-US" dirty="0"/>
              <a:t> stays unchanged.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560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90D7-DB17-4B20-96C0-CCE0E8227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Process –sub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F380A-15F3-F130-FCB7-50112DC89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Pipe — variable lost</a:t>
            </a:r>
          </a:p>
          <a:p>
            <a:r>
              <a:rPr lang="en-AU" dirty="0"/>
              <a:t>$ echo "hello" | read var</a:t>
            </a:r>
          </a:p>
          <a:p>
            <a:r>
              <a:rPr lang="en-AU" dirty="0"/>
              <a:t>$ echo "var is: '$var'"</a:t>
            </a:r>
          </a:p>
          <a:p>
            <a:r>
              <a:rPr lang="en-AU" dirty="0"/>
              <a:t>var is: ''</a:t>
            </a:r>
          </a:p>
          <a:p>
            <a:r>
              <a:rPr lang="en-AU" dirty="0"/>
              <a:t># read ran in a subshell; parent var not set</a:t>
            </a:r>
          </a:p>
          <a:p>
            <a:r>
              <a:rPr lang="en-AU" dirty="0"/>
              <a:t>Process substitution — variable preserved</a:t>
            </a:r>
          </a:p>
          <a:p>
            <a:r>
              <a:rPr lang="en-AU" dirty="0"/>
              <a:t>$ read var &lt; &lt;(echo "hello")</a:t>
            </a:r>
          </a:p>
          <a:p>
            <a:r>
              <a:rPr lang="en-AU" dirty="0"/>
              <a:t>$ echo "var is: '$var'"</a:t>
            </a:r>
          </a:p>
          <a:p>
            <a:r>
              <a:rPr lang="en-AU" dirty="0"/>
              <a:t>var is: 'hello'</a:t>
            </a:r>
          </a:p>
          <a:p>
            <a:r>
              <a:rPr lang="en-AU" dirty="0"/>
              <a:t># read ran in current shell; var set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877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7721</TotalTime>
  <Words>954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Welcome — KB Linux Foundation</vt:lpstr>
      <vt:lpstr>Where IS The PROCESS  &amp; Where Is The STATE ?</vt:lpstr>
      <vt:lpstr>Linux – every thing is a file..?</vt:lpstr>
      <vt:lpstr>Taste Of devices as file</vt:lpstr>
      <vt:lpstr>What is a Process in Linux</vt:lpstr>
      <vt:lpstr>Layered Cycle Speeds — Kernel, IoT Monitor, Display</vt:lpstr>
      <vt:lpstr>FD –file descriptors and processes</vt:lpstr>
      <vt:lpstr>Why getmethere fails</vt:lpstr>
      <vt:lpstr>Process –sub Process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Pronab Pal</dc:creator>
  <cp:keywords/>
  <dc:description>generated using python-pptx</dc:description>
  <cp:lastModifiedBy>Pronab Pal</cp:lastModifiedBy>
  <cp:revision>9</cp:revision>
  <dcterms:created xsi:type="dcterms:W3CDTF">2013-01-27T09:14:16Z</dcterms:created>
  <dcterms:modified xsi:type="dcterms:W3CDTF">2025-11-17T04:27:54Z</dcterms:modified>
  <cp:category/>
</cp:coreProperties>
</file>